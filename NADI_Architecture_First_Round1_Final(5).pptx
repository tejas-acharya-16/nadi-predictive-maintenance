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liport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09728"/>
            <a:ext cx="1865376" cy="4480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58568" y="100584"/>
            <a:ext cx="7178040" cy="338328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0C2746"/>
                </a:solidFill>
                <a:latin typeface="Arial"/>
              </a:rPr>
              <a:t>NADI  |  SELF-LEARNING PREDICTIVE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6856" y="438912"/>
            <a:ext cx="7223760" cy="192024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00A0DA"/>
                </a:solidFill>
                <a:latin typeface="Arial"/>
              </a:rPr>
              <a:t>Edge anomaly intelligence + RUL prediction  •  NASA C-MAPSS FD001–FD004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155448"/>
            <a:ext cx="1417320" cy="356616"/>
          </a:xfrm>
          <a:prstGeom prst="roundRect">
            <a:avLst>
              <a:gd name="adj" fmla="val 10000"/>
            </a:avLst>
          </a:prstGeom>
          <a:solidFill>
            <a:srgbClr val="0C2746"/>
          </a:solidFill>
          <a:ln w="3810">
            <a:solidFill>
              <a:srgbClr val="0C2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38944" y="164592"/>
            <a:ext cx="1307592" cy="338328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Arial"/>
              </a:rPr>
              <a:t>TELIPORT S4  /  CASE 01</a:t>
            </a:r>
          </a:p>
        </p:txBody>
      </p:sp>
      <p:pic>
        <p:nvPicPr>
          <p:cNvPr id="7" name="Picture 6" descr="tata_elxsi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848" y="73152"/>
            <a:ext cx="630936" cy="457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713232"/>
            <a:ext cx="11631168" cy="347472"/>
          </a:xfrm>
          <a:prstGeom prst="roundRect">
            <a:avLst>
              <a:gd name="adj" fmla="val 10000"/>
            </a:avLst>
          </a:prstGeom>
          <a:solidFill>
            <a:srgbClr val="0C2746"/>
          </a:solidFill>
          <a:ln w="2540">
            <a:solidFill>
              <a:srgbClr val="0C2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722376"/>
            <a:ext cx="11320272" cy="329184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0" b="1" i="0">
                <a:solidFill>
                  <a:srgbClr val="FFFFFF"/>
                </a:solidFill>
                <a:latin typeface="Arial"/>
              </a:rPr>
              <a:t>INGEST  →  NORMALIZE  →  DETECT  →  ESTIMATE RUL  →  TRIAGE  →  DISPATCH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106424"/>
            <a:ext cx="6309360" cy="155448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A0DA"/>
                </a:solidFill>
                <a:latin typeface="Arial"/>
              </a:rPr>
              <a:t>END-TO-END REFERENCE ARCHITECTURE  /  STREAMING DATA PLANE + GOVERNED MODEL PLANE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106424"/>
            <a:ext cx="3337560" cy="155448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56697F"/>
                </a:solidFill>
                <a:latin typeface="Arial"/>
              </a:rPr>
              <a:t>DESIGN PROPOSAL • C-MAPSS RESULTS NOT CLAIMED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" y="1325880"/>
            <a:ext cx="1417320" cy="1874519"/>
          </a:xfrm>
          <a:prstGeom prst="roundRect">
            <a:avLst>
              <a:gd name="adj" fmla="val 10000"/>
            </a:avLst>
          </a:prstGeom>
          <a:solidFill>
            <a:srgbClr val="E7F4FB"/>
          </a:solidFill>
          <a:ln w="10160">
            <a:solidFill>
              <a:srgbClr val="C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1389888"/>
            <a:ext cx="923544" cy="201168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C2746"/>
                </a:solidFill>
                <a:latin typeface="Arial"/>
              </a:rPr>
              <a:t>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1389888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00A0DA"/>
                </a:solidFill>
                <a:latin typeface="Arial"/>
              </a:rPr>
              <a:t>01</a:t>
            </a:r>
          </a:p>
        </p:txBody>
      </p:sp>
      <p:sp>
        <p:nvSpPr>
          <p:cNvPr id="15" name="Oval 14"/>
          <p:cNvSpPr/>
          <p:nvPr/>
        </p:nvSpPr>
        <p:spPr>
          <a:xfrm>
            <a:off x="429768" y="1673352"/>
            <a:ext cx="365760" cy="365760"/>
          </a:xfrm>
          <a:prstGeom prst="ellipse">
            <a:avLst/>
          </a:prstGeom>
          <a:solidFill>
            <a:srgbClr val="00A0DA"/>
          </a:solidFill>
          <a:ln w="1270">
            <a:solidFill>
              <a:srgbClr val="00A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_sens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21" y="1759305"/>
            <a:ext cx="193852" cy="1938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9768" y="2093976"/>
            <a:ext cx="1188720" cy="228600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C2746"/>
                </a:solidFill>
                <a:latin typeface="Arial"/>
              </a:rPr>
              <a:t>SENSOR 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2350008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56697F"/>
                </a:solidFill>
                <a:latin typeface="Arial"/>
              </a:rPr>
              <a:t>21 sensors + 3 settings
engine_id • cycle_k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" y="2862072"/>
            <a:ext cx="502920" cy="173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00A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" y="2866644"/>
            <a:ext cx="466344" cy="164592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A0DA"/>
                </a:solidFill>
                <a:latin typeface="Arial"/>
              </a:rPr>
              <a:t>STREAM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" y="2862072"/>
            <a:ext cx="585216" cy="173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00A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" y="2866644"/>
            <a:ext cx="548640" cy="164592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A0DA"/>
                </a:solidFill>
                <a:latin typeface="Arial"/>
              </a:rPr>
              <a:t>C-MAPSS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83664" y="1325880"/>
            <a:ext cx="1664208" cy="1874519"/>
          </a:xfrm>
          <a:prstGeom prst="roundRect">
            <a:avLst>
              <a:gd name="adj" fmla="val 10000"/>
            </a:avLst>
          </a:prstGeom>
          <a:solidFill>
            <a:srgbClr val="E7F4FB"/>
          </a:solidFill>
          <a:ln w="10160">
            <a:solidFill>
              <a:srgbClr val="C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02536" y="1389888"/>
            <a:ext cx="1170432" cy="201168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C2746"/>
                </a:solidFill>
                <a:latin typeface="Arial"/>
              </a:rPr>
              <a:t>FEATURE PLANE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4408" y="1389888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00A0DA"/>
                </a:solidFill>
                <a:latin typeface="Arial"/>
              </a:rPr>
              <a:t>02</a:t>
            </a:r>
          </a:p>
        </p:txBody>
      </p:sp>
      <p:sp>
        <p:nvSpPr>
          <p:cNvPr id="26" name="Oval 25"/>
          <p:cNvSpPr/>
          <p:nvPr/>
        </p:nvSpPr>
        <p:spPr>
          <a:xfrm>
            <a:off x="2002536" y="1673352"/>
            <a:ext cx="365760" cy="365760"/>
          </a:xfrm>
          <a:prstGeom prst="ellipse">
            <a:avLst/>
          </a:prstGeom>
          <a:solidFill>
            <a:srgbClr val="00A0DA"/>
          </a:solidFill>
          <a:ln w="1270">
            <a:solidFill>
              <a:srgbClr val="00A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_fea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8489" y="1759305"/>
            <a:ext cx="193852" cy="19385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002536" y="2093976"/>
            <a:ext cx="1435608" cy="228600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C2746"/>
                </a:solidFill>
                <a:latin typeface="Arial"/>
              </a:rPr>
              <a:t>DATA QUALITY 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02536" y="2350008"/>
            <a:ext cx="1435608" cy="402336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56697F"/>
                </a:solidFill>
                <a:latin typeface="Arial"/>
              </a:rPr>
              <a:t>Schema • gap repair • denoise
Condition-aware normalization
Causal rolling μ / σ / slope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02536" y="2862072"/>
            <a:ext cx="658368" cy="173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00A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2866644"/>
            <a:ext cx="621792" cy="164592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A0DA"/>
                </a:solidFill>
                <a:latin typeface="Arial"/>
              </a:rPr>
              <a:t>PAST-ONLY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15768" y="2862072"/>
            <a:ext cx="694944" cy="173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00A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34056" y="2866644"/>
            <a:ext cx="658368" cy="164592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A0DA"/>
                </a:solidFill>
                <a:latin typeface="Arial"/>
              </a:rPr>
              <a:t>NO LEAKAGE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75887" y="1325880"/>
            <a:ext cx="3090672" cy="1874519"/>
          </a:xfrm>
          <a:prstGeom prst="roundRect">
            <a:avLst>
              <a:gd name="adj" fmla="val 10000"/>
            </a:avLst>
          </a:prstGeom>
          <a:solidFill>
            <a:srgbClr val="0C2746"/>
          </a:solidFill>
          <a:ln w="20320">
            <a:solidFill>
              <a:srgbClr val="FFA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13048" y="1389888"/>
            <a:ext cx="2157984" cy="201168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03  DUAL-MODEL PLANE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89319" y="1394460"/>
            <a:ext cx="640080" cy="182880"/>
          </a:xfrm>
          <a:prstGeom prst="roundRect">
            <a:avLst>
              <a:gd name="adj" fmla="val 10000"/>
            </a:avLst>
          </a:prstGeom>
          <a:solidFill>
            <a:srgbClr val="16395B"/>
          </a:solidFill>
          <a:ln w="7620">
            <a:solidFill>
              <a:srgbClr val="FFA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07607" y="1399031"/>
            <a:ext cx="603503" cy="173736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 i="0">
                <a:solidFill>
                  <a:srgbClr val="FFAB23"/>
                </a:solidFill>
                <a:latin typeface="Arial"/>
              </a:rPr>
              <a:t>EDGE / FLEET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94759" y="1664207"/>
            <a:ext cx="1344168" cy="603504"/>
          </a:xfrm>
          <a:prstGeom prst="roundRect">
            <a:avLst>
              <a:gd name="adj" fmla="val 10000"/>
            </a:avLst>
          </a:prstGeom>
          <a:solidFill>
            <a:srgbClr val="16395B"/>
          </a:solidFill>
          <a:ln w="8890">
            <a:solidFill>
              <a:srgbClr val="356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79" y="1700784"/>
            <a:ext cx="1252728" cy="164592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EDGE ANOMALY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79" y="1883664"/>
            <a:ext cx="1252728" cy="310896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D6E5F2"/>
                </a:solidFill>
                <a:latin typeface="Arial"/>
              </a:rPr>
              <a:t>Quantized AE
+ TinyML NN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76088" y="1664207"/>
            <a:ext cx="1353312" cy="603504"/>
          </a:xfrm>
          <a:prstGeom prst="roundRect">
            <a:avLst>
              <a:gd name="adj" fmla="val 10000"/>
            </a:avLst>
          </a:prstGeom>
          <a:solidFill>
            <a:srgbClr val="F0F8FD"/>
          </a:solidFill>
          <a:ln w="7620">
            <a:solidFill>
              <a:srgbClr val="F0F8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30952" y="1700784"/>
            <a:ext cx="1243584" cy="164592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C2746"/>
                </a:solidFill>
                <a:latin typeface="Arial"/>
              </a:rPr>
              <a:t>FLEET RUL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30952" y="1883664"/>
            <a:ext cx="1243584" cy="310896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56697F"/>
                </a:solidFill>
                <a:latin typeface="Arial"/>
              </a:rPr>
              <a:t>LightGBM
RF baseline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22191" y="2313432"/>
            <a:ext cx="2798064" cy="182880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FFAB23"/>
                </a:solidFill>
                <a:latin typeface="Arial"/>
              </a:rPr>
              <a:t>FUSION OUTPUT  •  residual / novelty / RUL interval / quality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03903" y="2551176"/>
            <a:ext cx="1152144" cy="265176"/>
          </a:xfrm>
          <a:prstGeom prst="roundRect">
            <a:avLst>
              <a:gd name="adj" fmla="val 10000"/>
            </a:avLst>
          </a:prstGeom>
          <a:solidFill>
            <a:srgbClr val="19688C"/>
          </a:solidFill>
          <a:ln w="5080">
            <a:solidFill>
              <a:srgbClr val="196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31335" y="2560320"/>
            <a:ext cx="1097280" cy="246888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FFFFFF"/>
                </a:solidFill>
                <a:latin typeface="Arial"/>
              </a:rPr>
              <a:t>KNOWN → INFER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74920" y="2551176"/>
            <a:ext cx="1545336" cy="265176"/>
          </a:xfrm>
          <a:prstGeom prst="roundRect">
            <a:avLst>
              <a:gd name="adj" fmla="val 10000"/>
            </a:avLst>
          </a:prstGeom>
          <a:solidFill>
            <a:srgbClr val="FFAB23"/>
          </a:solidFill>
          <a:ln w="5080">
            <a:solidFill>
              <a:srgbClr val="FFA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02352" y="2560320"/>
            <a:ext cx="1490472" cy="246888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C2746"/>
                </a:solidFill>
                <a:latin typeface="Arial"/>
              </a:rPr>
              <a:t>NOVEL → VERIFY → Δw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22191" y="2898648"/>
            <a:ext cx="2798064" cy="173736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FFFFFF"/>
                </a:solidFill>
                <a:latin typeface="Arial"/>
              </a:rPr>
              <a:t>OOD GATE  •  BOUNDED BUFFER  •  VERIFIED-HEALTH UPDATE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22008" y="1325880"/>
            <a:ext cx="1773936" cy="1874519"/>
          </a:xfrm>
          <a:prstGeom prst="roundRect">
            <a:avLst>
              <a:gd name="adj" fmla="val 10000"/>
            </a:avLst>
          </a:prstGeom>
          <a:solidFill>
            <a:srgbClr val="F7FAFD"/>
          </a:solidFill>
          <a:ln w="10160">
            <a:solidFill>
              <a:srgbClr val="C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40880" y="1389888"/>
            <a:ext cx="1280160" cy="201168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C2746"/>
                </a:solidFill>
                <a:latin typeface="Arial"/>
              </a:rPr>
              <a:t>POLICY GATE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1389888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00A0DA"/>
                </a:solidFill>
                <a:latin typeface="Arial"/>
              </a:rPr>
              <a:t>04</a:t>
            </a:r>
          </a:p>
        </p:txBody>
      </p:sp>
      <p:sp>
        <p:nvSpPr>
          <p:cNvPr id="53" name="Oval 52"/>
          <p:cNvSpPr/>
          <p:nvPr/>
        </p:nvSpPr>
        <p:spPr>
          <a:xfrm>
            <a:off x="7040880" y="1673352"/>
            <a:ext cx="365760" cy="365760"/>
          </a:xfrm>
          <a:prstGeom prst="ellipse">
            <a:avLst/>
          </a:prstGeom>
          <a:solidFill>
            <a:srgbClr val="0C2746"/>
          </a:solidFill>
          <a:ln w="1270">
            <a:solidFill>
              <a:srgbClr val="0C2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con_tri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6833" y="1759305"/>
            <a:ext cx="193852" cy="19385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040880" y="2093976"/>
            <a:ext cx="1545336" cy="219456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C2746"/>
                </a:solidFill>
                <a:latin typeface="Arial"/>
              </a:rPr>
              <a:t>CONFIDENCE TRIAGE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0" y="2331720"/>
            <a:ext cx="1545336" cy="438912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6697F"/>
                </a:solidFill>
                <a:latin typeface="Arial"/>
              </a:rPr>
              <a:t>Anomaly × persistence
RUL interval × data quality
Uncertainty / freshness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40880" y="2862072"/>
            <a:ext cx="320040" cy="173736"/>
          </a:xfrm>
          <a:prstGeom prst="roundRect">
            <a:avLst>
              <a:gd name="adj" fmla="val 10000"/>
            </a:avLst>
          </a:prstGeom>
          <a:solidFill>
            <a:srgbClr val="239A6C"/>
          </a:solidFill>
          <a:ln w="7620">
            <a:solidFill>
              <a:srgbClr val="239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59168" y="2866644"/>
            <a:ext cx="283464" cy="164592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FFFFFF"/>
                </a:solidFill>
                <a:latin typeface="Arial"/>
              </a:rPr>
              <a:t>L0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11212" y="2862072"/>
            <a:ext cx="320040" cy="173736"/>
          </a:xfrm>
          <a:prstGeom prst="roundRect">
            <a:avLst>
              <a:gd name="adj" fmla="val 10000"/>
            </a:avLst>
          </a:prstGeom>
          <a:solidFill>
            <a:srgbClr val="F6C031"/>
          </a:solidFill>
          <a:ln w="7620">
            <a:solidFill>
              <a:srgbClr val="F6C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29500" y="2866644"/>
            <a:ext cx="283464" cy="164592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0C2746"/>
                </a:solidFill>
                <a:latin typeface="Arial"/>
              </a:rPr>
              <a:t>L1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81544" y="2862072"/>
            <a:ext cx="320040" cy="173736"/>
          </a:xfrm>
          <a:prstGeom prst="roundRect">
            <a:avLst>
              <a:gd name="adj" fmla="val 10000"/>
            </a:avLst>
          </a:prstGeom>
          <a:solidFill>
            <a:srgbClr val="FFAB23"/>
          </a:solidFill>
          <a:ln w="7620">
            <a:solidFill>
              <a:srgbClr val="FFA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99831" y="2866644"/>
            <a:ext cx="283464" cy="164592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0C2746"/>
                </a:solidFill>
                <a:latin typeface="Arial"/>
              </a:rPr>
              <a:t>L2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51876" y="2862072"/>
            <a:ext cx="320040" cy="173736"/>
          </a:xfrm>
          <a:prstGeom prst="roundRect">
            <a:avLst>
              <a:gd name="adj" fmla="val 10000"/>
            </a:avLst>
          </a:prstGeom>
          <a:solidFill>
            <a:srgbClr val="DE473D"/>
          </a:solidFill>
          <a:ln w="7620">
            <a:solidFill>
              <a:srgbClr val="DE4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70164" y="2866644"/>
            <a:ext cx="283464" cy="164592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FFFFFF"/>
                </a:solidFill>
                <a:latin typeface="Arial"/>
              </a:rPr>
              <a:t>L3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842248" y="1325880"/>
            <a:ext cx="3035808" cy="1874519"/>
          </a:xfrm>
          <a:prstGeom prst="roundRect">
            <a:avLst>
              <a:gd name="adj" fmla="val 10000"/>
            </a:avLst>
          </a:prstGeom>
          <a:solidFill>
            <a:srgbClr val="F7FAFD"/>
          </a:solidFill>
          <a:ln w="10160">
            <a:solidFill>
              <a:srgbClr val="C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61120" y="1389888"/>
            <a:ext cx="2542032" cy="201168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C2746"/>
                </a:solidFill>
                <a:latin typeface="Arial"/>
              </a:rPr>
              <a:t>MAINTENANCE EVENT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594592" y="1389888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00A0DA"/>
                </a:solidFill>
                <a:latin typeface="Arial"/>
              </a:rPr>
              <a:t>05</a:t>
            </a:r>
          </a:p>
        </p:txBody>
      </p:sp>
      <p:sp>
        <p:nvSpPr>
          <p:cNvPr id="68" name="Oval 67"/>
          <p:cNvSpPr/>
          <p:nvPr/>
        </p:nvSpPr>
        <p:spPr>
          <a:xfrm>
            <a:off x="8961120" y="1673352"/>
            <a:ext cx="365760" cy="365760"/>
          </a:xfrm>
          <a:prstGeom prst="ellipse">
            <a:avLst/>
          </a:prstGeom>
          <a:solidFill>
            <a:srgbClr val="00A0DA"/>
          </a:solidFill>
          <a:ln w="1270">
            <a:solidFill>
              <a:srgbClr val="00A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con_or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7073" y="1759305"/>
            <a:ext cx="193852" cy="193852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961120" y="2093976"/>
            <a:ext cx="2807208" cy="228600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C2746"/>
                </a:solidFill>
                <a:latin typeface="Arial"/>
              </a:rPr>
              <a:t>IDEMPOTENT WORK-ORDER EVENT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61120" y="2350008"/>
            <a:ext cx="2807208" cy="393192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56697F"/>
                </a:solidFill>
                <a:latin typeface="Arial"/>
              </a:rPr>
              <a:t>Asset ID • evidence snapshot • RUL interval
Severity • recommended inspection • model_version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961120" y="2862072"/>
            <a:ext cx="804672" cy="173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00A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79408" y="2866644"/>
            <a:ext cx="768096" cy="164592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A0DA"/>
                </a:solidFill>
                <a:latin typeface="Arial"/>
              </a:rPr>
              <a:t>AUDIT LINEAGE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829800" y="2862072"/>
            <a:ext cx="731520" cy="173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00A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848088" y="2866644"/>
            <a:ext cx="694944" cy="164592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A0DA"/>
                </a:solidFill>
                <a:latin typeface="Arial"/>
              </a:rPr>
              <a:t>IDEMPOTENCY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625328" y="2862072"/>
            <a:ext cx="795528" cy="173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00A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643615" y="2866644"/>
            <a:ext cx="758952" cy="164592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A0DA"/>
                </a:solidFill>
                <a:latin typeface="Arial"/>
              </a:rPr>
              <a:t>CMMS EVENT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1755648" y="2148840"/>
            <a:ext cx="109728" cy="164592"/>
          </a:xfrm>
          <a:prstGeom prst="rightArrow">
            <a:avLst/>
          </a:prstGeom>
          <a:solidFill>
            <a:srgbClr val="0C2746"/>
          </a:solidFill>
          <a:ln w="1270">
            <a:solidFill>
              <a:srgbClr val="0C2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ight Arrow 78"/>
          <p:cNvSpPr/>
          <p:nvPr/>
        </p:nvSpPr>
        <p:spPr>
          <a:xfrm>
            <a:off x="3557016" y="2148840"/>
            <a:ext cx="109728" cy="164592"/>
          </a:xfrm>
          <a:prstGeom prst="rightArrow">
            <a:avLst/>
          </a:prstGeom>
          <a:solidFill>
            <a:srgbClr val="0C2746"/>
          </a:solidFill>
          <a:ln w="1270">
            <a:solidFill>
              <a:srgbClr val="0C2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ight Arrow 79"/>
          <p:cNvSpPr/>
          <p:nvPr/>
        </p:nvSpPr>
        <p:spPr>
          <a:xfrm>
            <a:off x="6793992" y="2148840"/>
            <a:ext cx="109728" cy="164592"/>
          </a:xfrm>
          <a:prstGeom prst="rightArrow">
            <a:avLst/>
          </a:prstGeom>
          <a:solidFill>
            <a:srgbClr val="0C2746"/>
          </a:solidFill>
          <a:ln w="1270">
            <a:solidFill>
              <a:srgbClr val="0C2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ight Arrow 80"/>
          <p:cNvSpPr/>
          <p:nvPr/>
        </p:nvSpPr>
        <p:spPr>
          <a:xfrm>
            <a:off x="8668512" y="2148840"/>
            <a:ext cx="109728" cy="164592"/>
          </a:xfrm>
          <a:prstGeom prst="rightArrow">
            <a:avLst/>
          </a:prstGeom>
          <a:solidFill>
            <a:srgbClr val="0C2746"/>
          </a:solidFill>
          <a:ln w="1270">
            <a:solidFill>
              <a:srgbClr val="0C2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310896" y="3310128"/>
            <a:ext cx="3227832" cy="740664"/>
          </a:xfrm>
          <a:prstGeom prst="roundRect">
            <a:avLst>
              <a:gd name="adj" fmla="val 10000"/>
            </a:avLst>
          </a:prstGeom>
          <a:solidFill>
            <a:srgbClr val="F7FAFD"/>
          </a:solidFill>
          <a:ln w="9525">
            <a:solidFill>
              <a:srgbClr val="C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9768" y="3346704"/>
            <a:ext cx="2971800" cy="155448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0A0DA"/>
                </a:solidFill>
                <a:latin typeface="Arial"/>
              </a:rPr>
              <a:t>C-MAPSS  /  SUBSET COMPLEXITY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20624" y="3547872"/>
            <a:ext cx="704088" cy="3931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985">
            <a:solidFill>
              <a:srgbClr val="C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8912" y="3547872"/>
            <a:ext cx="667512" cy="146304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0A0DA"/>
                </a:solidFill>
                <a:latin typeface="Arial"/>
              </a:rPr>
              <a:t>FD001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4340" y="3694176"/>
            <a:ext cx="676656" cy="210312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56697F"/>
                </a:solidFill>
                <a:latin typeface="Arial"/>
              </a:rPr>
              <a:t>1 regime · 1 fault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179576" y="3547872"/>
            <a:ext cx="704088" cy="3931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985">
            <a:solidFill>
              <a:srgbClr val="C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97864" y="3547872"/>
            <a:ext cx="667512" cy="146304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0A0DA"/>
                </a:solidFill>
                <a:latin typeface="Arial"/>
              </a:rPr>
              <a:t>FD002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93292" y="3694176"/>
            <a:ext cx="676656" cy="210312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56697F"/>
                </a:solidFill>
                <a:latin typeface="Arial"/>
              </a:rPr>
              <a:t>6 regimes · 1 fault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938528" y="3547872"/>
            <a:ext cx="704088" cy="3931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985">
            <a:solidFill>
              <a:srgbClr val="C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956816" y="3547872"/>
            <a:ext cx="667512" cy="146304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0A0DA"/>
                </a:solidFill>
                <a:latin typeface="Arial"/>
              </a:rPr>
              <a:t>FD003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52244" y="3694176"/>
            <a:ext cx="676656" cy="210312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56697F"/>
                </a:solidFill>
                <a:latin typeface="Arial"/>
              </a:rPr>
              <a:t>1 regime · 2 faults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697479" y="3547872"/>
            <a:ext cx="704088" cy="3931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985">
            <a:solidFill>
              <a:srgbClr val="C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715768" y="3547872"/>
            <a:ext cx="667512" cy="146304"/>
          </a:xfrm>
          <a:prstGeom prst="rect">
            <a:avLst/>
          </a:prstGeom>
          <a:noFill/>
        </p:spPr>
        <p:txBody>
          <a:bodyPr wrap="square" anchor="ctr" lIns="9144" rIns="9144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0A0DA"/>
                </a:solidFill>
                <a:latin typeface="Arial"/>
              </a:rPr>
              <a:t>FD004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11196" y="3694176"/>
            <a:ext cx="676656" cy="210312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56697F"/>
                </a:solidFill>
                <a:latin typeface="Arial"/>
              </a:rPr>
              <a:t>6 regimes · 2 faults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675887" y="3310128"/>
            <a:ext cx="3090672" cy="740664"/>
          </a:xfrm>
          <a:prstGeom prst="roundRect">
            <a:avLst>
              <a:gd name="adj" fmla="val 10000"/>
            </a:avLst>
          </a:prstGeom>
          <a:solidFill>
            <a:srgbClr val="FFF5E0"/>
          </a:solidFill>
          <a:ln w="9525">
            <a:solidFill>
              <a:srgbClr val="F5D3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803904" y="3346704"/>
            <a:ext cx="2834640" cy="155448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925700"/>
                </a:solidFill>
                <a:latin typeface="Arial"/>
              </a:rPr>
              <a:t>ONLINE ADAPTATION  /  NOVELTY-GATED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794760" y="3566160"/>
            <a:ext cx="612648" cy="338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FFA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808476" y="3570732"/>
            <a:ext cx="585216" cy="137160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C2746"/>
                </a:solidFill>
                <a:latin typeface="Arial"/>
              </a:rPr>
              <a:t>OOD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08476" y="3707891"/>
            <a:ext cx="585216" cy="164592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56697F"/>
                </a:solidFill>
                <a:latin typeface="Arial"/>
              </a:rPr>
              <a:t>GATE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4416552" y="3671316"/>
            <a:ext cx="82296" cy="100584"/>
          </a:xfrm>
          <a:prstGeom prst="rightArrow">
            <a:avLst/>
          </a:prstGeom>
          <a:solidFill>
            <a:srgbClr val="FFAB23"/>
          </a:solidFill>
          <a:ln w="1270">
            <a:solidFill>
              <a:srgbClr val="FFA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507992" y="3566160"/>
            <a:ext cx="612648" cy="338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FFA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521708" y="3570732"/>
            <a:ext cx="585216" cy="137160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C2746"/>
                </a:solidFill>
                <a:latin typeface="Arial"/>
              </a:rPr>
              <a:t>BOUNDED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21708" y="3707891"/>
            <a:ext cx="585216" cy="164592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56697F"/>
                </a:solidFill>
                <a:latin typeface="Arial"/>
              </a:rPr>
              <a:t>BUFFER</a:t>
            </a:r>
          </a:p>
        </p:txBody>
      </p:sp>
      <p:sp>
        <p:nvSpPr>
          <p:cNvPr id="105" name="Right Arrow 104"/>
          <p:cNvSpPr/>
          <p:nvPr/>
        </p:nvSpPr>
        <p:spPr>
          <a:xfrm>
            <a:off x="5129784" y="3671316"/>
            <a:ext cx="82296" cy="100584"/>
          </a:xfrm>
          <a:prstGeom prst="rightArrow">
            <a:avLst/>
          </a:prstGeom>
          <a:solidFill>
            <a:srgbClr val="FFAB23"/>
          </a:solidFill>
          <a:ln w="1270">
            <a:solidFill>
              <a:srgbClr val="FFA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5221224" y="3566160"/>
            <a:ext cx="612648" cy="338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FFA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234940" y="3570732"/>
            <a:ext cx="585216" cy="137160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C2746"/>
                </a:solidFill>
                <a:latin typeface="Arial"/>
              </a:rPr>
              <a:t>VERIFY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234940" y="3707891"/>
            <a:ext cx="585216" cy="164592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56697F"/>
                </a:solidFill>
                <a:latin typeface="Arial"/>
              </a:rPr>
              <a:t>HEALTH</a:t>
            </a:r>
          </a:p>
        </p:txBody>
      </p:sp>
      <p:sp>
        <p:nvSpPr>
          <p:cNvPr id="109" name="Right Arrow 108"/>
          <p:cNvSpPr/>
          <p:nvPr/>
        </p:nvSpPr>
        <p:spPr>
          <a:xfrm>
            <a:off x="5843016" y="3671316"/>
            <a:ext cx="82296" cy="100584"/>
          </a:xfrm>
          <a:prstGeom prst="rightArrow">
            <a:avLst/>
          </a:prstGeom>
          <a:solidFill>
            <a:srgbClr val="FFAB23"/>
          </a:solidFill>
          <a:ln w="1270">
            <a:solidFill>
              <a:srgbClr val="FFA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5934456" y="3566160"/>
            <a:ext cx="612648" cy="338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FFA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948172" y="3570732"/>
            <a:ext cx="585216" cy="137160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C2746"/>
                </a:solidFill>
                <a:latin typeface="Arial"/>
              </a:rPr>
              <a:t>UPDATE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948172" y="3707891"/>
            <a:ext cx="585216" cy="164592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56697F"/>
                </a:solidFill>
                <a:latin typeface="Arial"/>
              </a:rPr>
              <a:t>Δw / PURGE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4736592" y="3200400"/>
            <a:ext cx="0" cy="109728"/>
          </a:xfrm>
          <a:prstGeom prst="line">
            <a:avLst/>
          </a:prstGeom>
          <a:ln w="13335">
            <a:solidFill>
              <a:srgbClr val="FFA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6665976" y="3200400"/>
            <a:ext cx="0" cy="109728"/>
          </a:xfrm>
          <a:prstGeom prst="line">
            <a:avLst/>
          </a:prstGeom>
          <a:ln w="13335">
            <a:solidFill>
              <a:srgbClr val="FFA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6922008" y="3310128"/>
            <a:ext cx="1773936" cy="740664"/>
          </a:xfrm>
          <a:prstGeom prst="roundRect">
            <a:avLst>
              <a:gd name="adj" fmla="val 10000"/>
            </a:avLst>
          </a:prstGeom>
          <a:solidFill>
            <a:srgbClr val="FFF0E8"/>
          </a:solidFill>
          <a:ln w="10795">
            <a:solidFill>
              <a:srgbClr val="DE4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040880" y="3364992"/>
            <a:ext cx="1536192" cy="164592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DE473D"/>
                </a:solidFill>
                <a:latin typeface="Arial"/>
              </a:rPr>
              <a:t>HUMAN EXCEPTION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040880" y="3593592"/>
            <a:ext cx="1536192" cy="356616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56697F"/>
                </a:solidFill>
                <a:latin typeface="Arial"/>
              </a:rPr>
              <a:t>OOD • stale • conflicting
low-confidence → review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7808975" y="3200400"/>
            <a:ext cx="0" cy="109728"/>
          </a:xfrm>
          <a:prstGeom prst="line">
            <a:avLst/>
          </a:prstGeom>
          <a:ln w="13335">
            <a:solidFill>
              <a:srgbClr val="DE47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8"/>
          <p:cNvSpPr/>
          <p:nvPr/>
        </p:nvSpPr>
        <p:spPr>
          <a:xfrm>
            <a:off x="8842248" y="3310128"/>
            <a:ext cx="3035808" cy="740664"/>
          </a:xfrm>
          <a:prstGeom prst="roundRect">
            <a:avLst>
              <a:gd name="adj" fmla="val 10000"/>
            </a:avLst>
          </a:prstGeom>
          <a:solidFill>
            <a:srgbClr val="F7FAFD"/>
          </a:solidFill>
          <a:ln w="9525">
            <a:solidFill>
              <a:srgbClr val="C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979408" y="3364992"/>
            <a:ext cx="2770632" cy="164592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C2746"/>
                </a:solidFill>
                <a:latin typeface="Arial"/>
              </a:rPr>
              <a:t>TECHNICIAN ACK  /  OUTCOME FEEDBACK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79408" y="3593592"/>
            <a:ext cx="2770632" cy="356616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56697F"/>
                </a:solidFill>
                <a:latin typeface="Arial"/>
              </a:rPr>
              <a:t>Work order ≠ repair completed
Acknowledgement / resolution → audit + labels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10360152" y="3200400"/>
            <a:ext cx="0" cy="109728"/>
          </a:xfrm>
          <a:prstGeom prst="line">
            <a:avLst/>
          </a:prstGeom>
          <a:ln w="12700">
            <a:solidFill>
              <a:srgbClr val="0C27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29184" y="4187952"/>
            <a:ext cx="6217920" cy="155448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00A0DA"/>
                </a:solidFill>
                <a:latin typeface="Arial"/>
              </a:rPr>
              <a:t>FLEET MLOps  /  CHAMPION–CHALLENGER GOVERNANCE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11480" y="4389120"/>
            <a:ext cx="1920240" cy="3931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C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48056" y="4398264"/>
            <a:ext cx="1847088" cy="155448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0C2746"/>
                </a:solidFill>
                <a:latin typeface="Arial"/>
              </a:rPr>
              <a:t>OBSERVE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48056" y="4562856"/>
            <a:ext cx="1847088" cy="173736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0" i="0">
                <a:solidFill>
                  <a:srgbClr val="56697F"/>
                </a:solidFill>
                <a:latin typeface="Arial"/>
              </a:rPr>
              <a:t>drift • residuals</a:t>
            </a:r>
          </a:p>
        </p:txBody>
      </p:sp>
      <p:sp>
        <p:nvSpPr>
          <p:cNvPr id="127" name="Right Arrow 126"/>
          <p:cNvSpPr/>
          <p:nvPr/>
        </p:nvSpPr>
        <p:spPr>
          <a:xfrm>
            <a:off x="2404872" y="4517136"/>
            <a:ext cx="237744" cy="118872"/>
          </a:xfrm>
          <a:prstGeom prst="rightArrow">
            <a:avLst/>
          </a:prstGeom>
          <a:solidFill>
            <a:srgbClr val="FFAB23"/>
          </a:solidFill>
          <a:ln w="1270">
            <a:solidFill>
              <a:srgbClr val="FFA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2724912" y="4389120"/>
            <a:ext cx="1920240" cy="3931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C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761488" y="4398264"/>
            <a:ext cx="1847088" cy="155448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0C2746"/>
                </a:solidFill>
                <a:latin typeface="Arial"/>
              </a:rPr>
              <a:t>RETRAIN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761488" y="4562856"/>
            <a:ext cx="1847088" cy="173736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0" i="0">
                <a:solidFill>
                  <a:srgbClr val="56697F"/>
                </a:solidFill>
                <a:latin typeface="Arial"/>
              </a:rPr>
              <a:t>candidate only</a:t>
            </a:r>
          </a:p>
        </p:txBody>
      </p:sp>
      <p:sp>
        <p:nvSpPr>
          <p:cNvPr id="131" name="Right Arrow 130"/>
          <p:cNvSpPr/>
          <p:nvPr/>
        </p:nvSpPr>
        <p:spPr>
          <a:xfrm>
            <a:off x="4718304" y="4517136"/>
            <a:ext cx="237744" cy="118872"/>
          </a:xfrm>
          <a:prstGeom prst="rightArrow">
            <a:avLst/>
          </a:prstGeom>
          <a:solidFill>
            <a:srgbClr val="FFAB23"/>
          </a:solidFill>
          <a:ln w="1270">
            <a:solidFill>
              <a:srgbClr val="FFA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5038344" y="4389120"/>
            <a:ext cx="1920240" cy="3931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C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074920" y="4398264"/>
            <a:ext cx="1847088" cy="155448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0C2746"/>
                </a:solidFill>
                <a:latin typeface="Arial"/>
              </a:rPr>
              <a:t>VALIDATE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074920" y="4562856"/>
            <a:ext cx="1847088" cy="173736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0" i="0">
                <a:solidFill>
                  <a:srgbClr val="56697F"/>
                </a:solidFill>
                <a:latin typeface="Arial"/>
              </a:rPr>
              <a:t>engine-wise holdout</a:t>
            </a:r>
          </a:p>
        </p:txBody>
      </p:sp>
      <p:sp>
        <p:nvSpPr>
          <p:cNvPr id="135" name="Right Arrow 134"/>
          <p:cNvSpPr/>
          <p:nvPr/>
        </p:nvSpPr>
        <p:spPr>
          <a:xfrm>
            <a:off x="7031736" y="4517136"/>
            <a:ext cx="237744" cy="118872"/>
          </a:xfrm>
          <a:prstGeom prst="rightArrow">
            <a:avLst/>
          </a:prstGeom>
          <a:solidFill>
            <a:srgbClr val="FFAB23"/>
          </a:solidFill>
          <a:ln w="1270">
            <a:solidFill>
              <a:srgbClr val="FFA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7351775" y="4389120"/>
            <a:ext cx="1920240" cy="3931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C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388351" y="4398264"/>
            <a:ext cx="1847088" cy="155448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0C2746"/>
                </a:solidFill>
                <a:latin typeface="Arial"/>
              </a:rPr>
              <a:t>CHALLENGE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388351" y="4562856"/>
            <a:ext cx="1847088" cy="173736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0" i="0">
                <a:solidFill>
                  <a:srgbClr val="56697F"/>
                </a:solidFill>
                <a:latin typeface="Arial"/>
              </a:rPr>
              <a:t>RMSE • NASA score</a:t>
            </a:r>
          </a:p>
        </p:txBody>
      </p:sp>
      <p:sp>
        <p:nvSpPr>
          <p:cNvPr id="139" name="Right Arrow 138"/>
          <p:cNvSpPr/>
          <p:nvPr/>
        </p:nvSpPr>
        <p:spPr>
          <a:xfrm>
            <a:off x="9345167" y="4517136"/>
            <a:ext cx="237744" cy="118872"/>
          </a:xfrm>
          <a:prstGeom prst="rightArrow">
            <a:avLst/>
          </a:prstGeom>
          <a:solidFill>
            <a:srgbClr val="FFAB23"/>
          </a:solidFill>
          <a:ln w="1270">
            <a:solidFill>
              <a:srgbClr val="FFA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9665208" y="4389120"/>
            <a:ext cx="1920240" cy="3931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795">
            <a:solidFill>
              <a:srgbClr val="FFA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701784" y="4398264"/>
            <a:ext cx="1847088" cy="155448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0C2746"/>
                </a:solidFill>
                <a:latin typeface="Arial"/>
              </a:rPr>
              <a:t>REGISTRY / DEPLOY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701784" y="4562856"/>
            <a:ext cx="1847088" cy="173736"/>
          </a:xfrm>
          <a:prstGeom prst="rect">
            <a:avLst/>
          </a:prstGeom>
          <a:noFill/>
        </p:spPr>
        <p:txBody>
          <a:bodyPr wrap="square" anchor="ctr" lIns="4572" rIns="4572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0" i="0">
                <a:solidFill>
                  <a:srgbClr val="56697F"/>
                </a:solidFill>
                <a:latin typeface="Arial"/>
              </a:rPr>
              <a:t>version • canary • rollback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11640312" y="4782312"/>
            <a:ext cx="0" cy="100584"/>
          </a:xfrm>
          <a:prstGeom prst="line">
            <a:avLst/>
          </a:prstGeom>
          <a:ln w="11430">
            <a:solidFill>
              <a:srgbClr val="FFA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>
            <a:off x="1371600" y="4882896"/>
            <a:ext cx="10268712" cy="0"/>
          </a:xfrm>
          <a:prstGeom prst="line">
            <a:avLst/>
          </a:prstGeom>
          <a:ln w="11430">
            <a:solidFill>
              <a:srgbClr val="FFA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371600" y="4782312"/>
            <a:ext cx="0" cy="100584"/>
          </a:xfrm>
          <a:prstGeom prst="line">
            <a:avLst/>
          </a:prstGeom>
          <a:ln w="11430">
            <a:solidFill>
              <a:srgbClr val="FFA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/>
          <p:cNvSpPr/>
          <p:nvPr/>
        </p:nvSpPr>
        <p:spPr>
          <a:xfrm>
            <a:off x="310896" y="5047488"/>
            <a:ext cx="4361688" cy="1005840"/>
          </a:xfrm>
          <a:prstGeom prst="roundRect">
            <a:avLst>
              <a:gd name="adj" fmla="val 10000"/>
            </a:avLst>
          </a:prstGeom>
          <a:solidFill>
            <a:srgbClr val="0C2746"/>
          </a:solidFill>
          <a:ln w="5080">
            <a:solidFill>
              <a:srgbClr val="0C2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75488" y="5111496"/>
            <a:ext cx="4005072" cy="164592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AB23"/>
                </a:solidFill>
                <a:latin typeface="Arial"/>
              </a:rPr>
              <a:t>PRIOR EDGE PROTOTYPE  /  DIFFERENT TASK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84632" y="5330951"/>
            <a:ext cx="1161288" cy="310896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~12 KB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89204" y="5660136"/>
            <a:ext cx="1152144" cy="201168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D8E5F1"/>
                </a:solidFill>
                <a:latin typeface="Arial"/>
              </a:rPr>
              <a:t>model + update state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801368" y="5330951"/>
            <a:ext cx="1161288" cy="310896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59 ms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805939" y="5660136"/>
            <a:ext cx="1152144" cy="201168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D8E5F1"/>
                </a:solidFill>
                <a:latin typeface="Arial"/>
              </a:rPr>
              <a:t>per sample on board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118104" y="5330951"/>
            <a:ext cx="1161288" cy="310896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96.2%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122676" y="5660136"/>
            <a:ext cx="1152144" cy="201168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D8E5F1"/>
                </a:solidFill>
                <a:latin typeface="Arial"/>
              </a:rPr>
              <a:t>1,000-point live stream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837176" y="5047488"/>
            <a:ext cx="7040880" cy="1005840"/>
          </a:xfrm>
          <a:prstGeom prst="roundRect">
            <a:avLst>
              <a:gd name="adj" fmla="val 10000"/>
            </a:avLst>
          </a:prstGeom>
          <a:solidFill>
            <a:srgbClr val="F7FAFD"/>
          </a:solidFill>
          <a:ln w="9525">
            <a:solidFill>
              <a:srgbClr val="C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010912" y="5111496"/>
            <a:ext cx="6675120" cy="164592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A0DA"/>
                </a:solidFill>
                <a:latin typeface="Arial"/>
              </a:rPr>
              <a:t>VALIDATION PLAN  /  C-MAPSS SCORES NOT YET MEASURED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5010912" y="5358383"/>
            <a:ext cx="20574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985">
            <a:solidFill>
              <a:srgbClr val="C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074920" y="5376672"/>
            <a:ext cx="512064" cy="155448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FFAB23"/>
                </a:solidFill>
                <a:latin typeface="Arial"/>
              </a:rPr>
              <a:t>SPLIT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074920" y="5541264"/>
            <a:ext cx="1920240" cy="192024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1A314B"/>
                </a:solidFill>
                <a:latin typeface="Arial"/>
              </a:rPr>
              <a:t>engine-wise; no cycle leakage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7223760" y="5358383"/>
            <a:ext cx="20574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985">
            <a:solidFill>
              <a:srgbClr val="C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287768" y="5376672"/>
            <a:ext cx="512064" cy="155448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FFAB23"/>
                </a:solidFill>
                <a:latin typeface="Arial"/>
              </a:rPr>
              <a:t>RUL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287768" y="5541264"/>
            <a:ext cx="1920240" cy="192024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1A314B"/>
                </a:solidFill>
                <a:latin typeface="Arial"/>
              </a:rPr>
              <a:t>RMSE + NASA asymmetric score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9436608" y="5358383"/>
            <a:ext cx="20574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985">
            <a:solidFill>
              <a:srgbClr val="C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9500616" y="5376672"/>
            <a:ext cx="512064" cy="155448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FFAB23"/>
                </a:solidFill>
                <a:latin typeface="Arial"/>
              </a:rPr>
              <a:t>FAULTS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500616" y="5541264"/>
            <a:ext cx="1920240" cy="192024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1A314B"/>
                </a:solidFill>
                <a:latin typeface="Arial"/>
              </a:rPr>
              <a:t>lead time + false alarms / engine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029200" y="5815583"/>
            <a:ext cx="6601968" cy="137160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56697F"/>
                </a:solidFill>
                <a:latin typeface="Arial"/>
              </a:rPr>
              <a:t>FD001 → FD004 • threshold and RUL-interval calibration required • no simulated performance claims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65760" y="6181344"/>
            <a:ext cx="11430000" cy="182880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C2746"/>
                </a:solidFill>
                <a:latin typeface="Arial"/>
              </a:rPr>
              <a:t>TEAM LEAD: DEVANSH AWASTI   |   TEAM MEMBERS: SATYAJEET • TEJAS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84048" y="6437376"/>
            <a:ext cx="11411712" cy="146304"/>
          </a:xfrm>
          <a:prstGeom prst="rect">
            <a:avLst/>
          </a:prstGeom>
          <a:noFill/>
        </p:spPr>
        <p:txBody>
          <a:bodyPr wrap="square" anchor="ctr" lIns="0" rIns="0" tIns="4572" bIns="457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56697F"/>
                </a:solidFill>
                <a:latin typeface="Arial"/>
              </a:rPr>
              <a:t>Architecture proposal. The 12 KB, 59 ms and 96.2% figures are from the earlier pump-fault prototype, not from NASA C-MAPSS.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